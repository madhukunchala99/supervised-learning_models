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1802" y="791962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2DD4BF"/>
                </a:solidFill>
                <a:latin typeface="Aptos"/>
              </a:rPr>
              <a:t>CALIBO AI ACADEMY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7132320" cy="738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 dirty="0">
                <a:solidFill>
                  <a:srgbClr val="F1F5F9"/>
                </a:solidFill>
                <a:latin typeface="Aptos"/>
              </a:rPr>
              <a:t>SUPERVISED</a:t>
            </a:r>
            <a:r>
              <a:rPr lang="en-IN" sz="4200" b="1" dirty="0">
                <a:solidFill>
                  <a:srgbClr val="F1F5F9"/>
                </a:solidFill>
                <a:latin typeface="Aptos"/>
              </a:rPr>
              <a:t> </a:t>
            </a:r>
            <a:r>
              <a:rPr sz="4200" b="1" dirty="0">
                <a:solidFill>
                  <a:srgbClr val="F1F5F9"/>
                </a:solidFill>
                <a:latin typeface="Aptos"/>
              </a:rPr>
              <a:t>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802" y="2029968"/>
            <a:ext cx="6400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 dirty="0">
                <a:solidFill>
                  <a:srgbClr val="B4BFCF"/>
                </a:solidFill>
                <a:latin typeface="Aptos"/>
              </a:rPr>
              <a:t>From raw data to the right ML model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F4948F4-D435-3A93-884E-2BA23E166A8A}"/>
              </a:ext>
            </a:extLst>
          </p:cNvPr>
          <p:cNvGrpSpPr/>
          <p:nvPr/>
        </p:nvGrpSpPr>
        <p:grpSpPr>
          <a:xfrm>
            <a:off x="871530" y="2777764"/>
            <a:ext cx="3364992" cy="384048"/>
            <a:chOff x="749808" y="3794760"/>
            <a:chExt cx="3364992" cy="384048"/>
          </a:xfrm>
        </p:grpSpPr>
        <p:sp>
          <p:nvSpPr>
            <p:cNvPr id="5" name="Rounded Rectangle 4"/>
            <p:cNvSpPr/>
            <p:nvPr/>
          </p:nvSpPr>
          <p:spPr>
            <a:xfrm>
              <a:off x="749808" y="3794760"/>
              <a:ext cx="1417320" cy="384048"/>
            </a:xfrm>
            <a:prstGeom prst="roundRect">
              <a:avLst/>
            </a:prstGeom>
            <a:solidFill>
              <a:srgbClr val="172D37"/>
            </a:solidFill>
            <a:ln>
              <a:solidFill>
                <a:srgbClr val="2DD4B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749808" y="3840480"/>
              <a:ext cx="1417320" cy="2286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100" b="1" dirty="0">
                  <a:solidFill>
                    <a:srgbClr val="2DD4BF"/>
                  </a:solidFill>
                  <a:latin typeface="Aptos"/>
                </a:rPr>
                <a:t>REGRESSION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2331720" y="3794760"/>
              <a:ext cx="1783080" cy="384048"/>
            </a:xfrm>
            <a:prstGeom prst="roundRect">
              <a:avLst/>
            </a:prstGeom>
            <a:solidFill>
              <a:srgbClr val="281E41"/>
            </a:solidFill>
            <a:ln>
              <a:solidFill>
                <a:srgbClr val="A78BF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331720" y="3840480"/>
              <a:ext cx="1783080" cy="2286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100" b="1" dirty="0">
                  <a:solidFill>
                    <a:srgbClr val="A78BFA"/>
                  </a:solidFill>
                  <a:latin typeface="Aptos"/>
                </a:rPr>
                <a:t>CLASSIFICATION</a:t>
              </a: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731520" y="3519188"/>
            <a:ext cx="79552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1F5F9"/>
                </a:solidFill>
                <a:latin typeface="Aptos"/>
              </a:rPr>
              <a:t>Linear • Logistic • KNN • Decision Tree • Random Forest • Bagging • Boosting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1802" y="4226210"/>
            <a:ext cx="3657600" cy="61555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IN" sz="1400" b="1" dirty="0">
                <a:solidFill>
                  <a:schemeClr val="bg1">
                    <a:lumMod val="85000"/>
                  </a:schemeClr>
                </a:solidFill>
                <a:latin typeface="Aptos"/>
              </a:rPr>
              <a:t>Presented by: </a:t>
            </a:r>
            <a:br>
              <a:rPr lang="en-IN" sz="2000" b="1" dirty="0">
                <a:solidFill>
                  <a:srgbClr val="38BDF8"/>
                </a:solidFill>
                <a:latin typeface="Aptos"/>
              </a:rPr>
            </a:br>
            <a:r>
              <a:rPr sz="2000" b="1" dirty="0">
                <a:solidFill>
                  <a:srgbClr val="38BDF8"/>
                </a:solidFill>
                <a:latin typeface="Aptos"/>
              </a:rPr>
              <a:t>MADHU KUNCHALA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6510528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B4BFCF"/>
                </a:solidFill>
                <a:latin typeface="Aptos"/>
              </a:rPr>
              <a:t>CALIBO AI ACADEMY  •  MACHINE LEARNING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11EC763-0C2D-969E-100A-AC66CE51E3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H="1">
            <a:off x="7159752" y="558287"/>
            <a:ext cx="4160718" cy="491846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1F5F9"/>
                </a:solidFill>
                <a:latin typeface="Aptos"/>
              </a:rPr>
              <a:t>What is Supervised Learning?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2412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B4BFCF"/>
                </a:solidFill>
                <a:latin typeface="Aptos"/>
              </a:rPr>
              <a:t>Learning from examples where the correct answer is already known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47472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2DD4BF"/>
                </a:solidFill>
                <a:latin typeface="Aptos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B4BFCF"/>
                </a:solidFill>
                <a:latin typeface="Aptos"/>
              </a:rPr>
              <a:t>CALIBO AI ACADEMY  •  MACHINE LEARNING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2926080" cy="347472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38BDF8"/>
                </a:solidFill>
                <a:latin typeface="Aptos"/>
              </a:rPr>
              <a:t>INPUT (X)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1F5F9"/>
                </a:solidFill>
                <a:latin typeface="Aptos"/>
              </a:rPr>
              <a:t>• Customer 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70632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1F5F9"/>
                </a:solidFill>
                <a:latin typeface="Aptos"/>
              </a:rPr>
              <a:t>• Quantity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09544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1F5F9"/>
                </a:solidFill>
                <a:latin typeface="Aptos"/>
              </a:rPr>
              <a:t>• Unit price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648456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1F5F9"/>
                </a:solidFill>
                <a:latin typeface="Aptos"/>
              </a:rPr>
              <a:t>• Discount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087368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1F5F9"/>
                </a:solidFill>
                <a:latin typeface="Aptos"/>
              </a:rPr>
              <a:t>• Order details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703320" y="3246120"/>
            <a:ext cx="914400" cy="0"/>
          </a:xfrm>
          <a:prstGeom prst="line">
            <a:avLst/>
          </a:prstGeom>
          <a:ln w="38100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709160" y="1508760"/>
            <a:ext cx="2743200" cy="3474720"/>
          </a:xfrm>
          <a:prstGeom prst="roundRect">
            <a:avLst/>
          </a:prstGeom>
          <a:solidFill>
            <a:srgbClr val="27374B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983480" y="1874519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2DD4BF"/>
                </a:solidFill>
                <a:latin typeface="Aptos"/>
              </a:rPr>
              <a:t>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83480" y="2560320"/>
            <a:ext cx="2194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1F5F9"/>
                </a:solidFill>
                <a:latin typeface="Aptos"/>
              </a:rPr>
              <a:t>Learns the relationship
between X and 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498079" y="3246120"/>
            <a:ext cx="960121" cy="0"/>
          </a:xfrm>
          <a:prstGeom prst="line">
            <a:avLst/>
          </a:prstGeom>
          <a:ln w="38100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549640" y="1508760"/>
            <a:ext cx="2880360" cy="347472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778240" y="1783080"/>
            <a:ext cx="2423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A78BFA"/>
                </a:solidFill>
                <a:latin typeface="Aptos"/>
              </a:rPr>
              <a:t>OUTPUT (Y)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23960" y="2423160"/>
            <a:ext cx="233172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1F5F9"/>
                </a:solidFill>
                <a:latin typeface="Aptos"/>
              </a:rPr>
              <a:t>Known during training
→ Regression: a number
→ Classification: a class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4406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ACC15"/>
                </a:solidFill>
                <a:latin typeface="Aptos"/>
              </a:rPr>
              <a:t>X + known Y → learn → predict Y for new 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6510528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B4BFCF"/>
                </a:solidFill>
                <a:latin typeface="Aptos"/>
              </a:rPr>
              <a:t>CALIBO AI ACADEMY  •  MACHINE LEARNING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1F5F9"/>
                </a:solidFill>
                <a:latin typeface="Aptos"/>
              </a:rPr>
              <a:t>Before Any Model: The ML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2412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B4BFCF"/>
                </a:solidFill>
                <a:latin typeface="Aptos"/>
              </a:rPr>
              <a:t>The algorithm comes after the data is ready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47472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2DD4BF"/>
                </a:solidFill>
                <a:latin typeface="Aptos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B4BFCF"/>
                </a:solidFill>
                <a:latin typeface="Aptos"/>
              </a:rPr>
              <a:t>CALIBO AI ACADEMY  •  MACHINE LEARNING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1965960" cy="1508760"/>
          </a:xfrm>
          <a:prstGeom prst="roundRect">
            <a:avLst/>
          </a:prstGeom>
          <a:solidFill>
            <a:srgbClr val="1E293B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527048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DD4B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50876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1F5F9"/>
                </a:solidFill>
                <a:latin typeface="Aptos"/>
              </a:rPr>
              <a:t>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039112"/>
            <a:ext cx="1600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B4BFCF"/>
                </a:solidFill>
                <a:latin typeface="Aptos"/>
              </a:rPr>
              <a:t>Define X and 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0" y="1417320"/>
            <a:ext cx="1965960" cy="1508760"/>
          </a:xfrm>
          <a:prstGeom prst="roundRect">
            <a:avLst/>
          </a:prstGeom>
          <a:solidFill>
            <a:srgbClr val="1E293B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63240" y="1527048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DD4BF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150876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1F5F9"/>
                </a:solidFill>
                <a:latin typeface="Aptos"/>
              </a:rPr>
              <a:t>Understand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039112"/>
            <a:ext cx="1600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B4BFCF"/>
                </a:solidFill>
                <a:latin typeface="Aptos"/>
              </a:rPr>
              <a:t>Shape, types, missing values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12080" y="1417320"/>
            <a:ext cx="1965960" cy="1508760"/>
          </a:xfrm>
          <a:prstGeom prst="roundRect">
            <a:avLst/>
          </a:prstGeom>
          <a:solidFill>
            <a:srgbClr val="1E293B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49240" y="1527048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DD4B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0" y="150876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1F5F9"/>
                </a:solidFill>
                <a:latin typeface="Aptos"/>
              </a:rPr>
              <a:t>EDA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0" y="2039112"/>
            <a:ext cx="1600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B4BFCF"/>
                </a:solidFill>
                <a:latin typeface="Aptos"/>
              </a:rPr>
              <a:t>Patterns, outliers, relationships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79" y="1417320"/>
            <a:ext cx="1965960" cy="1508760"/>
          </a:xfrm>
          <a:prstGeom prst="roundRect">
            <a:avLst/>
          </a:prstGeom>
          <a:solidFill>
            <a:srgbClr val="1E293B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635240" y="1527048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DD4BF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0" y="150876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1F5F9"/>
                </a:solidFill>
                <a:latin typeface="Aptos"/>
              </a:rPr>
              <a:t>Clean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59" y="2039112"/>
            <a:ext cx="1600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B4BFCF"/>
                </a:solidFill>
                <a:latin typeface="Aptos"/>
              </a:rPr>
              <a:t>Duplicates + missing values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84080" y="1417320"/>
            <a:ext cx="1965960" cy="1508760"/>
          </a:xfrm>
          <a:prstGeom prst="roundRect">
            <a:avLst/>
          </a:prstGeom>
          <a:solidFill>
            <a:srgbClr val="1E293B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921240" y="1527048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DD4BF"/>
                </a:solidFill>
                <a:latin typeface="Apto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87000" y="150876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1F5F9"/>
                </a:solidFill>
                <a:latin typeface="Aptos"/>
              </a:rPr>
              <a:t>Features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59" y="2039112"/>
            <a:ext cx="1600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B4BFCF"/>
                </a:solidFill>
                <a:latin typeface="Aptos"/>
              </a:rPr>
              <a:t>Select/create useful inputs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3474720"/>
            <a:ext cx="1965960" cy="1508760"/>
          </a:xfrm>
          <a:prstGeom prst="roundRect">
            <a:avLst/>
          </a:prstGeom>
          <a:solidFill>
            <a:srgbClr val="1E293B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7240" y="3584448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DD4BF"/>
                </a:solidFill>
                <a:latin typeface="Aptos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356616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1F5F9"/>
                </a:solidFill>
                <a:latin typeface="Aptos"/>
              </a:rPr>
              <a:t>Encode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59" y="4096511"/>
            <a:ext cx="1600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B4BFCF"/>
                </a:solidFill>
                <a:latin typeface="Aptos"/>
              </a:rPr>
              <a:t>Text → numbers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926080" y="3474720"/>
            <a:ext cx="1965960" cy="1508760"/>
          </a:xfrm>
          <a:prstGeom prst="roundRect">
            <a:avLst/>
          </a:prstGeom>
          <a:solidFill>
            <a:srgbClr val="1E293B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063240" y="3584448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DD4BF"/>
                </a:solidFill>
                <a:latin typeface="Aptos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29000" y="356616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1F5F9"/>
                </a:solidFill>
                <a:latin typeface="Aptos"/>
              </a:rPr>
              <a:t>Scale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08960" y="4096511"/>
            <a:ext cx="1600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B4BFCF"/>
                </a:solidFill>
                <a:latin typeface="Aptos"/>
              </a:rPr>
              <a:t>Put numeric features on a fair scale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212080" y="3474720"/>
            <a:ext cx="1965960" cy="1508760"/>
          </a:xfrm>
          <a:prstGeom prst="roundRect">
            <a:avLst/>
          </a:prstGeom>
          <a:solidFill>
            <a:srgbClr val="1E293B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349240" y="3584448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78BFA"/>
                </a:solidFill>
                <a:latin typeface="Aptos"/>
              </a:rPr>
              <a:t>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15000" y="356616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1F5F9"/>
                </a:solidFill>
                <a:latin typeface="Aptos"/>
              </a:rPr>
              <a:t>Split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94960" y="4096511"/>
            <a:ext cx="1600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B4BFCF"/>
                </a:solidFill>
                <a:latin typeface="Aptos"/>
              </a:rPr>
              <a:t>Train / Test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498079" y="3474720"/>
            <a:ext cx="1965960" cy="1508760"/>
          </a:xfrm>
          <a:prstGeom prst="roundRect">
            <a:avLst/>
          </a:prstGeom>
          <a:solidFill>
            <a:srgbClr val="1E293B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635240" y="3584448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78BFA"/>
                </a:solidFill>
                <a:latin typeface="Aptos"/>
              </a:rPr>
              <a:t>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01000" y="356616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1F5F9"/>
                </a:solidFill>
                <a:latin typeface="Aptos"/>
              </a:rPr>
              <a:t>Model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80959" y="4096511"/>
            <a:ext cx="1600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B4BFCF"/>
                </a:solidFill>
                <a:latin typeface="Aptos"/>
              </a:rPr>
              <a:t>Train candidate algorithms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784080" y="3474720"/>
            <a:ext cx="1965960" cy="1508760"/>
          </a:xfrm>
          <a:prstGeom prst="roundRect">
            <a:avLst/>
          </a:prstGeom>
          <a:solidFill>
            <a:srgbClr val="1E293B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921240" y="3584448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78BFA"/>
                </a:solidFill>
                <a:latin typeface="Aptos"/>
              </a:rPr>
              <a:t>10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87000" y="356616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1F5F9"/>
                </a:solidFill>
                <a:latin typeface="Aptos"/>
              </a:rPr>
              <a:t>Evaluate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66959" y="4096511"/>
            <a:ext cx="1600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B4BFCF"/>
                </a:solidFill>
                <a:latin typeface="Aptos"/>
              </a:rPr>
              <a:t>Compare → select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0" y="580644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ACC15"/>
                </a:solidFill>
                <a:latin typeface="Aptos"/>
              </a:rPr>
              <a:t>Fit preprocessing on TRAIN data only → then transform TEST data.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792" y="6510528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B4BFCF"/>
                </a:solidFill>
                <a:latin typeface="Aptos"/>
              </a:rPr>
              <a:t>CALIBO AI ACADEMY  •  MACHINE LEARNING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1F5F9"/>
                </a:solidFill>
                <a:latin typeface="Aptos"/>
              </a:rPr>
              <a:t>Regression vs Classification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2412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B4BFCF"/>
                </a:solidFill>
                <a:latin typeface="Aptos"/>
              </a:rPr>
              <a:t>First decide what kind of answer you need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47472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2DD4BF"/>
                </a:solidFill>
                <a:latin typeface="Aptos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B4BFCF"/>
                </a:solidFill>
                <a:latin typeface="Aptos"/>
              </a:rPr>
              <a:t>CALIBO AI ACADEMY  •  MACHINE LEARNING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5349240" cy="4251960"/>
          </a:xfrm>
          <a:prstGeom prst="roundRect">
            <a:avLst/>
          </a:prstGeom>
          <a:solidFill>
            <a:srgbClr val="1E293B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563624"/>
            <a:ext cx="49834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DD4BF"/>
                </a:solidFill>
                <a:latin typeface="Aptos"/>
              </a:rPr>
              <a:t>REGRESSION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65960"/>
            <a:ext cx="49834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F1F5F9"/>
                </a:solidFill>
                <a:latin typeface="Aptos"/>
              </a:rPr>
              <a:t>Predict a continuous number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50008"/>
            <a:ext cx="4983479" cy="3227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B4BFCF"/>
                </a:solidFill>
                <a:latin typeface="Aptos"/>
              </a:rPr>
              <a:t>Target (Y): Profit, Sales, Price, Salary
Metrics:
• MAE • MSE / RMSE • R²
Models:
Linear Regression • KNN • Decision Tree • Random Forest • Boosting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417320"/>
            <a:ext cx="5349240" cy="4251960"/>
          </a:xfrm>
          <a:prstGeom prst="roundRect">
            <a:avLst/>
          </a:prstGeom>
          <a:solidFill>
            <a:srgbClr val="1E293B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55080" y="1563624"/>
            <a:ext cx="49834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A78BFA"/>
                </a:solidFill>
                <a:latin typeface="Aptos"/>
              </a:rPr>
              <a:t>CLASSIFICATION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965960"/>
            <a:ext cx="49834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F1F5F9"/>
                </a:solidFill>
                <a:latin typeface="Aptos"/>
              </a:rPr>
              <a:t>Predict a category / class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350008"/>
            <a:ext cx="4983479" cy="3227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B4BFCF"/>
                </a:solidFill>
                <a:latin typeface="Aptos"/>
              </a:rPr>
              <a:t>Target (Y): Yes/No, Low/High, Class A/B
Metrics:
• Accuracy • Precision • Recall • F1
• Confusion Matrix
Model example: Logistic Regression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897880"/>
            <a:ext cx="10332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ACC15"/>
                </a:solidFill>
                <a:latin typeface="Aptos"/>
              </a:rPr>
              <a:t>Our e-commerce project → Profit is continuous → REGRESSION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6510528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B4BFCF"/>
                </a:solidFill>
                <a:latin typeface="Aptos"/>
              </a:rPr>
              <a:t>CALIBO AI ACADEMY  •  MACHINE LEARNING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1F5F9"/>
                </a:solidFill>
                <a:latin typeface="Aptos"/>
              </a:rPr>
              <a:t>1. Linear Regression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2412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B4BFCF"/>
                </a:solidFill>
                <a:latin typeface="Aptos"/>
              </a:rPr>
              <a:t>Best starting point when the relationship is approximately linear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47472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2DD4BF"/>
                </a:solidFill>
                <a:latin typeface="Aptos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B4BFCF"/>
                </a:solidFill>
                <a:latin typeface="Aptos"/>
              </a:rPr>
              <a:t>CALIBO AI ACADEMY  •  MACHINE LEARNING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4663440" cy="434340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DD4BF"/>
                </a:solidFill>
                <a:latin typeface="Aptos"/>
              </a:rPr>
              <a:t>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4114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1F5F9"/>
                </a:solidFill>
                <a:latin typeface="Aptos"/>
              </a:rPr>
              <a:t>Find the best-fitting line
through the data.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46120"/>
            <a:ext cx="4114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700" b="1">
                <a:solidFill>
                  <a:srgbClr val="38BDF8"/>
                </a:solidFill>
                <a:latin typeface="Aptos"/>
              </a:rPr>
              <a:t>y = mx + 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B4BFCF"/>
                </a:solidFill>
                <a:latin typeface="Aptos"/>
              </a:rPr>
              <a:t>m = slope     c = intercept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897880" y="5074920"/>
            <a:ext cx="4800600" cy="0"/>
          </a:xfrm>
          <a:prstGeom prst="line">
            <a:avLst/>
          </a:prstGeom>
          <a:ln w="19050">
            <a:solidFill>
              <a:srgbClr val="B4BF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5897880" y="1783080"/>
            <a:ext cx="0" cy="3291840"/>
          </a:xfrm>
          <a:prstGeom prst="line">
            <a:avLst/>
          </a:prstGeom>
          <a:ln w="19050">
            <a:solidFill>
              <a:srgbClr val="B4BF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6309360" y="4572000"/>
            <a:ext cx="118872" cy="118872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858000" y="4251960"/>
            <a:ext cx="118872" cy="118872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7315200" y="3886200"/>
            <a:ext cx="118872" cy="118872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818120" y="3657600"/>
            <a:ext cx="118872" cy="118872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412480" y="3108960"/>
            <a:ext cx="118872" cy="118872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915400" y="2834640"/>
            <a:ext cx="118872" cy="118872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509760" y="2514600"/>
            <a:ext cx="118872" cy="118872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058400" y="2194560"/>
            <a:ext cx="118872" cy="118872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1" name="Connector 20"/>
          <p:cNvCxnSpPr/>
          <p:nvPr/>
        </p:nvCxnSpPr>
        <p:spPr>
          <a:xfrm flipV="1">
            <a:off x="6172200" y="2057400"/>
            <a:ext cx="4206240" cy="2651760"/>
          </a:xfrm>
          <a:prstGeom prst="line">
            <a:avLst/>
          </a:prstGeom>
          <a:ln w="381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943600" y="548640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1F5F9"/>
                </a:solidFill>
                <a:latin typeface="Aptos"/>
              </a:rPr>
              <a:t>How: learn coefficients → predict numeric 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6510528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B4BFCF"/>
                </a:solidFill>
                <a:latin typeface="Aptos"/>
              </a:rPr>
              <a:t>CALIBO AI ACADEMY  •  MACHINE LEARNING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1F5F9"/>
                </a:solidFill>
                <a:latin typeface="Aptos"/>
              </a:rPr>
              <a:t>2. Logistic Regression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2412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B4BFCF"/>
                </a:solidFill>
                <a:latin typeface="Aptos"/>
              </a:rPr>
              <a:t>Despite the name, it is mainly used for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47472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2DD4BF"/>
                </a:solidFill>
                <a:latin typeface="Aptos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B4BFCF"/>
                </a:solidFill>
                <a:latin typeface="Aptos"/>
              </a:rPr>
              <a:t>CALIBO AI ACADEMY  •  MACHINE LEARNING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4846320" cy="443484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A78BFA"/>
                </a:solidFill>
                <a:latin typeface="Aptos"/>
              </a:rPr>
              <a:t>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42062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F1F5F9"/>
                </a:solidFill>
                <a:latin typeface="Aptos"/>
              </a:rPr>
              <a:t>Predict a probability,
then convert it into a class.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37560"/>
            <a:ext cx="4206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38BDF8"/>
                </a:solidFill>
                <a:latin typeface="Aptos"/>
              </a:rPr>
              <a:t>Sigmoid → probability (0 to 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206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B4BFCF"/>
                </a:solidFill>
                <a:latin typeface="Aptos"/>
              </a:rPr>
              <a:t>Probability ≥ threshold → Class 1
Probability &lt; threshold → Class 0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989320" y="5166360"/>
            <a:ext cx="4709160" cy="0"/>
          </a:xfrm>
          <a:prstGeom prst="line">
            <a:avLst/>
          </a:prstGeom>
          <a:ln w="19050">
            <a:solidFill>
              <a:srgbClr val="B4BF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5989320" y="1828800"/>
            <a:ext cx="0" cy="3337560"/>
          </a:xfrm>
          <a:prstGeom prst="line">
            <a:avLst/>
          </a:prstGeom>
          <a:ln w="19050">
            <a:solidFill>
              <a:srgbClr val="B4BF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6217920" y="4736592"/>
            <a:ext cx="274320" cy="64008"/>
          </a:xfrm>
          <a:prstGeom prst="line">
            <a:avLst/>
          </a:prstGeom>
          <a:ln w="38100">
            <a:solidFill>
              <a:srgbClr val="A78B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6492240" y="4572000"/>
            <a:ext cx="274320" cy="164592"/>
          </a:xfrm>
          <a:prstGeom prst="line">
            <a:avLst/>
          </a:prstGeom>
          <a:ln w="38100">
            <a:solidFill>
              <a:srgbClr val="A78B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6766560" y="4251960"/>
            <a:ext cx="274320" cy="320040"/>
          </a:xfrm>
          <a:prstGeom prst="line">
            <a:avLst/>
          </a:prstGeom>
          <a:ln w="38100">
            <a:solidFill>
              <a:srgbClr val="A78B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7040880" y="3703320"/>
            <a:ext cx="274320" cy="548640"/>
          </a:xfrm>
          <a:prstGeom prst="line">
            <a:avLst/>
          </a:prstGeom>
          <a:ln w="38100">
            <a:solidFill>
              <a:srgbClr val="A78B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7315200" y="3154680"/>
            <a:ext cx="274320" cy="548640"/>
          </a:xfrm>
          <a:prstGeom prst="line">
            <a:avLst/>
          </a:prstGeom>
          <a:ln w="38100">
            <a:solidFill>
              <a:srgbClr val="A78B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7589520" y="2697480"/>
            <a:ext cx="274320" cy="457200"/>
          </a:xfrm>
          <a:prstGeom prst="line">
            <a:avLst/>
          </a:prstGeom>
          <a:ln w="38100">
            <a:solidFill>
              <a:srgbClr val="A78B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7863840" y="2331720"/>
            <a:ext cx="274320" cy="365760"/>
          </a:xfrm>
          <a:prstGeom prst="line">
            <a:avLst/>
          </a:prstGeom>
          <a:ln w="38100">
            <a:solidFill>
              <a:srgbClr val="A78B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8138160" y="2148840"/>
            <a:ext cx="274320" cy="182880"/>
          </a:xfrm>
          <a:prstGeom prst="line">
            <a:avLst/>
          </a:prstGeom>
          <a:ln w="38100">
            <a:solidFill>
              <a:srgbClr val="A78B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8412480" y="2057400"/>
            <a:ext cx="274320" cy="91440"/>
          </a:xfrm>
          <a:prstGeom prst="line">
            <a:avLst/>
          </a:prstGeom>
          <a:ln w="38100">
            <a:solidFill>
              <a:srgbClr val="A78B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126480" y="548640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1F5F9"/>
                </a:solidFill>
                <a:latin typeface="Aptos"/>
              </a:rPr>
              <a:t>Use when Y is a class/category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6510528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B4BFCF"/>
                </a:solidFill>
                <a:latin typeface="Aptos"/>
              </a:rPr>
              <a:t>CALIBO AI ACADEMY  •  MACHINE LEARNING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1F5F9"/>
                </a:solidFill>
                <a:latin typeface="Aptos"/>
              </a:rPr>
              <a:t>3. KNN Regression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2412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B4BFCF"/>
                </a:solidFill>
                <a:latin typeface="Aptos"/>
              </a:rPr>
              <a:t>Predict using the most similar observations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47472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2DD4BF"/>
                </a:solidFill>
                <a:latin typeface="Aptos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B4BFCF"/>
                </a:solidFill>
                <a:latin typeface="Aptos"/>
              </a:rPr>
              <a:t>CALIBO AI ACADEMY  •  MACHINE LEARNING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4663440" cy="443484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563624"/>
            <a:ext cx="42976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38BDF8"/>
                </a:solidFill>
                <a:latin typeface="Aptos"/>
              </a:rPr>
              <a:t>KNN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65960"/>
            <a:ext cx="42976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F1F5F9"/>
                </a:solidFill>
                <a:latin typeface="Aptos"/>
              </a:rPr>
              <a:t>K = number of neighbours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50008"/>
            <a:ext cx="4297679" cy="341071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B4BFCF"/>
                </a:solidFill>
                <a:latin typeface="Aptos"/>
              </a:rPr>
              <a:t>1. Choose K
2. Measure distance from a new point
3. Find the K nearest points
4. Regression → average their target values
Needs feature scaling because distance matters.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806440" y="5257800"/>
            <a:ext cx="4892040" cy="0"/>
          </a:xfrm>
          <a:prstGeom prst="line">
            <a:avLst/>
          </a:prstGeom>
          <a:ln w="16510">
            <a:solidFill>
              <a:srgbClr val="B4BF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5806440" y="1828800"/>
            <a:ext cx="0" cy="3429000"/>
          </a:xfrm>
          <a:prstGeom prst="line">
            <a:avLst/>
          </a:prstGeom>
          <a:ln w="16510">
            <a:solidFill>
              <a:srgbClr val="B4BF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6492240" y="4480560"/>
            <a:ext cx="146304" cy="146304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949440" y="4023360"/>
            <a:ext cx="146304" cy="146304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7498079" y="4572000"/>
            <a:ext cx="146304" cy="146304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686800" y="2743200"/>
            <a:ext cx="146304" cy="146304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418320" y="2468880"/>
            <a:ext cx="146304" cy="146304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058400" y="2194560"/>
            <a:ext cx="146304" cy="146304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315200" y="3474720"/>
            <a:ext cx="237744" cy="237744"/>
          </a:xfrm>
          <a:prstGeom prst="ellipse">
            <a:avLst/>
          </a:prstGeom>
          <a:solidFill>
            <a:srgbClr val="FACC15"/>
          </a:solidFill>
          <a:ln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9" name="Connector 18"/>
          <p:cNvCxnSpPr/>
          <p:nvPr/>
        </p:nvCxnSpPr>
        <p:spPr>
          <a:xfrm flipH="1">
            <a:off x="7022592" y="3593592"/>
            <a:ext cx="411480" cy="502920"/>
          </a:xfrm>
          <a:prstGeom prst="line">
            <a:avLst/>
          </a:prstGeom>
          <a:ln w="19050">
            <a:solidFill>
              <a:srgbClr val="FACC1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6565392" y="3593592"/>
            <a:ext cx="868680" cy="960120"/>
          </a:xfrm>
          <a:prstGeom prst="line">
            <a:avLst/>
          </a:prstGeom>
          <a:ln w="19050">
            <a:solidFill>
              <a:srgbClr val="FACC1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434072" y="3593592"/>
            <a:ext cx="137159" cy="1051560"/>
          </a:xfrm>
          <a:prstGeom prst="line">
            <a:avLst/>
          </a:prstGeom>
          <a:ln w="19050">
            <a:solidFill>
              <a:srgbClr val="FACC1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995160" y="29718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ACC15"/>
                </a:solidFill>
                <a:latin typeface="Aptos"/>
              </a:rPr>
              <a:t>NEW POINT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6510528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B4BFCF"/>
                </a:solidFill>
                <a:latin typeface="Aptos"/>
              </a:rPr>
              <a:t>CALIBO AI ACADEMY  •  MACHINE LEARNING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1F5F9"/>
                </a:solidFill>
                <a:latin typeface="Aptos"/>
              </a:rPr>
              <a:t>4. Decision Tree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2412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B4BFCF"/>
                </a:solidFill>
                <a:latin typeface="Aptos"/>
              </a:rPr>
              <a:t>Learn a sequence of if/else decisions from the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47472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2DD4BF"/>
                </a:solidFill>
                <a:latin typeface="Aptos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B4BFCF"/>
                </a:solidFill>
                <a:latin typeface="Aptos"/>
              </a:rPr>
              <a:t>CALIBO AI ACADEMY  •  MACHINE LEARNING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71600"/>
            <a:ext cx="1097280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480560" y="1664208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1F5F9"/>
                </a:solidFill>
                <a:latin typeface="Aptos"/>
              </a:rPr>
              <a:t>Start with a question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49240" y="2148840"/>
            <a:ext cx="1463040" cy="594360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40680" y="2276856"/>
            <a:ext cx="1280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Aptos"/>
              </a:rPr>
              <a:t>Unit Price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3200400" y="2743200"/>
            <a:ext cx="2286000" cy="640080"/>
          </a:xfrm>
          <a:prstGeom prst="line">
            <a:avLst/>
          </a:prstGeom>
          <a:ln w="22860">
            <a:solidFill>
              <a:srgbClr val="B4BF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675120" y="2743200"/>
            <a:ext cx="2286000" cy="640080"/>
          </a:xfrm>
          <a:prstGeom prst="line">
            <a:avLst/>
          </a:prstGeom>
          <a:ln w="22860">
            <a:solidFill>
              <a:srgbClr val="B4BF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240280" y="2907792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B4BFCF"/>
                </a:solidFill>
                <a:latin typeface="Aptos"/>
              </a:rPr>
              <a:t>≤ threshold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2907792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B4BFCF"/>
                </a:solidFill>
                <a:latin typeface="Aptos"/>
              </a:rPr>
              <a:t>&gt; threshold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28800" y="3429000"/>
            <a:ext cx="1828800" cy="658368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920240" y="3584448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Aptos"/>
              </a:rPr>
              <a:t>Lower Profit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0" y="3429000"/>
            <a:ext cx="1828800" cy="658368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63440" y="3584448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Aptos"/>
              </a:rPr>
              <a:t>Quantity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3429000"/>
            <a:ext cx="1828800" cy="658368"/>
          </a:xfrm>
          <a:prstGeom prst="round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0" y="3584448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Aptos"/>
              </a:rPr>
              <a:t>Higher Profit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66928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ACC15"/>
                </a:solidFill>
                <a:latin typeface="Aptos"/>
              </a:rPr>
              <a:t>Pros: easy to explain • captures non-linear patterns   |   Risk: overfitting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6510528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B4BFCF"/>
                </a:solidFill>
                <a:latin typeface="Aptos"/>
              </a:rPr>
              <a:t>CALIBO AI ACADEMY  •  MACHINE LEARNING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1F5F9"/>
                </a:solidFill>
                <a:latin typeface="Aptos"/>
              </a:rPr>
              <a:t>5. Random Forest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2412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B4BFCF"/>
                </a:solidFill>
                <a:latin typeface="Aptos"/>
              </a:rPr>
              <a:t>Many decision trees working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47472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2DD4BF"/>
                </a:solidFill>
                <a:latin typeface="Aptos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B4BFCF"/>
                </a:solidFill>
                <a:latin typeface="Aptos"/>
              </a:rPr>
              <a:t>CALIBO AI ACADEMY  •  MACHINE LEARNING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417320"/>
            <a:ext cx="1508760" cy="2926080"/>
          </a:xfrm>
          <a:prstGeom prst="roundRect">
            <a:avLst/>
          </a:prstGeom>
          <a:solidFill>
            <a:srgbClr val="1E293B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1563624"/>
            <a:ext cx="1143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DD4BF"/>
                </a:solidFill>
                <a:latin typeface="Aptos"/>
              </a:rPr>
              <a:t>Tree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965960"/>
            <a:ext cx="1143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F1F5F9"/>
                </a:solidFill>
                <a:latin typeface="Aptos"/>
              </a:rPr>
              <a:t>different sample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350008"/>
            <a:ext cx="1143000" cy="1901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B4BFCF"/>
                </a:solidFill>
                <a:latin typeface="Aptos"/>
              </a:rPr>
              <a:t>Learns different
splits and patterns.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1417320"/>
            <a:ext cx="1508760" cy="292608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26080" y="1563624"/>
            <a:ext cx="1143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38BDF8"/>
                </a:solidFill>
                <a:latin typeface="Aptos"/>
              </a:rPr>
              <a:t>Tree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1965960"/>
            <a:ext cx="1143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F1F5F9"/>
                </a:solidFill>
                <a:latin typeface="Aptos"/>
              </a:rPr>
              <a:t>different sample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350008"/>
            <a:ext cx="1143000" cy="1901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B4BFCF"/>
                </a:solidFill>
                <a:latin typeface="Aptos"/>
              </a:rPr>
              <a:t>Learns different
splits and patterns.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1417320"/>
            <a:ext cx="1508760" cy="2926080"/>
          </a:xfrm>
          <a:prstGeom prst="roundRect">
            <a:avLst/>
          </a:prstGeom>
          <a:solidFill>
            <a:srgbClr val="1E293B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54880" y="1563624"/>
            <a:ext cx="1143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A78BFA"/>
                </a:solidFill>
                <a:latin typeface="Aptos"/>
              </a:rPr>
              <a:t>Tree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1965960"/>
            <a:ext cx="1143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F1F5F9"/>
                </a:solidFill>
                <a:latin typeface="Aptos"/>
              </a:rPr>
              <a:t>different sample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2350008"/>
            <a:ext cx="1143000" cy="1901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B4BFCF"/>
                </a:solidFill>
                <a:latin typeface="Aptos"/>
              </a:rPr>
              <a:t>Learns different
splits and patterns.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1417320"/>
            <a:ext cx="1508760" cy="2926080"/>
          </a:xfrm>
          <a:prstGeom prst="roundRect">
            <a:avLst/>
          </a:prstGeom>
          <a:solidFill>
            <a:srgbClr val="1E293B"/>
          </a:solidFill>
          <a:ln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3680" y="1563624"/>
            <a:ext cx="1143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B923C"/>
                </a:solidFill>
                <a:latin typeface="Aptos"/>
              </a:rPr>
              <a:t>Tree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1965960"/>
            <a:ext cx="1143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F1F5F9"/>
                </a:solidFill>
                <a:latin typeface="Aptos"/>
              </a:rPr>
              <a:t>different sample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350008"/>
            <a:ext cx="1143000" cy="1901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B4BFCF"/>
                </a:solidFill>
                <a:latin typeface="Aptos"/>
              </a:rPr>
              <a:t>Learns different
splits and patterns.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645920" y="4434840"/>
            <a:ext cx="6766560" cy="0"/>
          </a:xfrm>
          <a:prstGeom prst="line">
            <a:avLst/>
          </a:prstGeom>
          <a:ln w="19050">
            <a:solidFill>
              <a:srgbClr val="B4BF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474720" y="4434840"/>
            <a:ext cx="4937760" cy="0"/>
          </a:xfrm>
          <a:prstGeom prst="line">
            <a:avLst/>
          </a:prstGeom>
          <a:ln w="19050">
            <a:solidFill>
              <a:srgbClr val="B4BF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520" y="4434840"/>
            <a:ext cx="3108960" cy="0"/>
          </a:xfrm>
          <a:prstGeom prst="line">
            <a:avLst/>
          </a:prstGeom>
          <a:ln w="19050">
            <a:solidFill>
              <a:srgbClr val="B4BF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132320" y="4434840"/>
            <a:ext cx="1280160" cy="0"/>
          </a:xfrm>
          <a:prstGeom prst="line">
            <a:avLst/>
          </a:prstGeom>
          <a:ln w="19050">
            <a:solidFill>
              <a:srgbClr val="B4BF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549640" y="1874519"/>
            <a:ext cx="2743200" cy="2423160"/>
          </a:xfrm>
          <a:prstGeom prst="roundRect">
            <a:avLst/>
          </a:prstGeom>
          <a:solidFill>
            <a:srgbClr val="27374B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778240" y="214884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DD4BF"/>
                </a:solidFill>
                <a:latin typeface="Aptos"/>
              </a:rPr>
              <a:t>RANDOM FOREST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0" y="2788920"/>
            <a:ext cx="21031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F1F5F9"/>
                </a:solidFill>
                <a:latin typeface="Aptos"/>
              </a:rPr>
              <a:t>Combine many trees
↓
More stable prediction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5166360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ACC15"/>
                </a:solidFill>
                <a:latin typeface="Aptos"/>
              </a:rPr>
              <a:t>Compared with one tree: reduces variance and usually generalizes better.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" y="6510528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B4BFCF"/>
                </a:solidFill>
                <a:latin typeface="Aptos"/>
              </a:rPr>
              <a:t>CALIBO AI ACADEMY  •  MACHINE LEARNING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1F5F9"/>
                </a:solidFill>
                <a:latin typeface="Aptos"/>
              </a:rPr>
              <a:t>6. Bagging vs 7. Boosting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2412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B4BFCF"/>
                </a:solidFill>
                <a:latin typeface="Aptos"/>
              </a:rPr>
              <a:t>Both combine models — but they learn in different 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47472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2DD4BF"/>
                </a:solidFill>
                <a:latin typeface="Aptos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B4BFCF"/>
                </a:solidFill>
                <a:latin typeface="Aptos"/>
              </a:rPr>
              <a:t>CALIBO AI ACADEMY  •  MACHINE LEARNING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5303520" cy="448056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563624"/>
            <a:ext cx="493775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38BDF8"/>
                </a:solidFill>
                <a:latin typeface="Aptos"/>
              </a:rPr>
              <a:t>BAGGING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65960"/>
            <a:ext cx="493775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F1F5F9"/>
                </a:solidFill>
                <a:latin typeface="Aptos"/>
              </a:rPr>
              <a:t>Parallel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50008"/>
            <a:ext cx="4937759" cy="34564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B4BFCF"/>
                </a:solidFill>
                <a:latin typeface="Aptos"/>
              </a:rPr>
              <a:t>• Train several models on different samples
• Models learn independently
• Combine predictions
• Main goal: reduce variance
Random Forest is a popular bagging-style ensemble.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17320"/>
            <a:ext cx="5303520" cy="4480560"/>
          </a:xfrm>
          <a:prstGeom prst="roundRect">
            <a:avLst/>
          </a:prstGeom>
          <a:solidFill>
            <a:srgbClr val="1E293B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563624"/>
            <a:ext cx="493775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DD4BF"/>
                </a:solidFill>
                <a:latin typeface="Aptos"/>
              </a:rPr>
              <a:t>BOOSTING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965960"/>
            <a:ext cx="493775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F1F5F9"/>
                </a:solidFill>
                <a:latin typeface="Aptos"/>
              </a:rPr>
              <a:t>Sequential learning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350008"/>
            <a:ext cx="4937759" cy="34564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B4BFCF"/>
                </a:solidFill>
                <a:latin typeface="Aptos"/>
              </a:rPr>
              <a:t>• Start with a model
• Find errors
• Next model focuses more on those errors
• Repeat sequentially
• Combine the models
Main goal: build a strong model by correcting previous mistakes.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6080760"/>
            <a:ext cx="10515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FACC15"/>
                </a:solidFill>
                <a:latin typeface="Aptos"/>
              </a:rPr>
              <a:t>Memory trick: BAGGING = independent models  |  BOOSTING = learn from previous mistakes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6510528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B4BFCF"/>
                </a:solidFill>
                <a:latin typeface="Aptos"/>
              </a:rPr>
              <a:t>CALIBO AI ACADEMY  •  MACHINE LEARNING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1F5F9"/>
                </a:solidFill>
                <a:latin typeface="Aptos"/>
              </a:rPr>
              <a:t>How Do We Choose the Model?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2412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B4BFCF"/>
                </a:solidFill>
                <a:latin typeface="Aptos"/>
              </a:rPr>
              <a:t>We don't choose by name — we choose by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47472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2DD4BF"/>
                </a:solidFill>
                <a:latin typeface="Aptos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B4BFCF"/>
                </a:solidFill>
                <a:latin typeface="Aptos"/>
              </a:rPr>
              <a:t>CALIBO AI ACADEMY  •  MACHINE LEARNING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58087" y="1280160"/>
            <a:ext cx="9875520" cy="566928"/>
          </a:xfrm>
          <a:prstGeom prst="roundRect">
            <a:avLst/>
          </a:prstGeom>
          <a:solidFill>
            <a:srgbClr val="1E293B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58087" y="1399031"/>
            <a:ext cx="9875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2DD4BF"/>
                </a:solidFill>
                <a:latin typeface="Aptos"/>
              </a:rPr>
              <a:t>Same data split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729587" y="2029967"/>
            <a:ext cx="8732520" cy="566928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729587" y="2148839"/>
            <a:ext cx="8732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38BDF8"/>
                </a:solidFill>
                <a:latin typeface="Aptos"/>
              </a:rPr>
              <a:t>Same feature set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01087" y="2779776"/>
            <a:ext cx="7589520" cy="566928"/>
          </a:xfrm>
          <a:prstGeom prst="roundRect">
            <a:avLst/>
          </a:prstGeom>
          <a:solidFill>
            <a:srgbClr val="1E293B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301087" y="2898648"/>
            <a:ext cx="7589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A78BFA"/>
                </a:solidFill>
                <a:latin typeface="Aptos"/>
              </a:rPr>
              <a:t>Train candidate models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72587" y="3529584"/>
            <a:ext cx="6446520" cy="566928"/>
          </a:xfrm>
          <a:prstGeom prst="roundRect">
            <a:avLst/>
          </a:prstGeom>
          <a:solidFill>
            <a:srgbClr val="1E293B"/>
          </a:solidFill>
          <a:ln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872587" y="3648456"/>
            <a:ext cx="6446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B923C"/>
                </a:solidFill>
                <a:latin typeface="Aptos"/>
              </a:rPr>
              <a:t>Evaluate with suitable metrics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44087" y="4279392"/>
            <a:ext cx="5303520" cy="566928"/>
          </a:xfrm>
          <a:prstGeom prst="roundRect">
            <a:avLst/>
          </a:prstGeom>
          <a:solidFill>
            <a:srgbClr val="1E293B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44087" y="4398264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4ADE80"/>
                </a:solidFill>
                <a:latin typeface="Aptos"/>
              </a:rPr>
              <a:t>Compare results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15587" y="5029200"/>
            <a:ext cx="4160520" cy="566928"/>
          </a:xfrm>
          <a:prstGeom prst="roundRect">
            <a:avLst/>
          </a:prstGeom>
          <a:solidFill>
            <a:srgbClr val="1E293B"/>
          </a:solidFill>
          <a:ln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015587" y="5148072"/>
            <a:ext cx="4160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ACC15"/>
                </a:solidFill>
                <a:latin typeface="Aptos"/>
              </a:rPr>
              <a:t>Select model + deploy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5989320"/>
            <a:ext cx="4297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2DD4BF"/>
                </a:solidFill>
                <a:latin typeface="Aptos"/>
              </a:rPr>
              <a:t>Regression → MAE / RMSE / R²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5989320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A78BFA"/>
                </a:solidFill>
                <a:latin typeface="Aptos"/>
              </a:rPr>
              <a:t>Classification → Accuracy / Precision / Recall / F1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6510528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B4BFCF"/>
                </a:solidFill>
                <a:latin typeface="Aptos"/>
              </a:rPr>
              <a:t>CALIBO AI ACADEMY  •  MACHINE LEARNING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51560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IN" sz="2800" b="1" dirty="0">
                <a:solidFill>
                  <a:srgbClr val="F1F5F9"/>
                </a:solidFill>
                <a:latin typeface="Aptos"/>
              </a:rPr>
              <a:t>My</a:t>
            </a:r>
            <a:r>
              <a:rPr sz="2800" b="1" dirty="0">
                <a:solidFill>
                  <a:srgbClr val="F1F5F9"/>
                </a:solidFill>
                <a:latin typeface="Aptos"/>
              </a:rPr>
              <a:t> E-commerce Project: What </a:t>
            </a:r>
            <a:r>
              <a:rPr lang="en-IN" sz="2800" b="1" dirty="0">
                <a:solidFill>
                  <a:srgbClr val="F1F5F9"/>
                </a:solidFill>
                <a:latin typeface="Aptos"/>
              </a:rPr>
              <a:t>I</a:t>
            </a:r>
            <a:r>
              <a:rPr sz="2800" b="1" dirty="0">
                <a:solidFill>
                  <a:srgbClr val="F1F5F9"/>
                </a:solidFill>
                <a:latin typeface="Aptos"/>
              </a:rPr>
              <a:t> Found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96112"/>
            <a:ext cx="102412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dirty="0">
                <a:solidFill>
                  <a:srgbClr val="B4BFCF"/>
                </a:solidFill>
                <a:latin typeface="Aptos"/>
              </a:rPr>
              <a:t>A real example of the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47472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2DD4BF"/>
                </a:solidFill>
                <a:latin typeface="Aptos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B4BFCF"/>
                </a:solidFill>
                <a:latin typeface="Aptos"/>
              </a:rPr>
              <a:t>CALIBO AI ACADEMY  •  MACHINE LEARNING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4023360" cy="480060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66420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DD4BF"/>
                </a:solidFill>
                <a:latin typeface="Aptos"/>
              </a:rPr>
              <a:t>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084831"/>
            <a:ext cx="3474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1F5F9"/>
                </a:solidFill>
                <a:latin typeface="Aptos"/>
              </a:rPr>
              <a:t>Predict Profit from customer, product, order, marketing and operational features.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127248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8BDF8"/>
                </a:solidFill>
                <a:latin typeface="Aptos"/>
              </a:rPr>
              <a:t>What we did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566160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F1F5F9"/>
                </a:solidFill>
                <a:latin typeface="Aptos"/>
              </a:rPr>
              <a:t>• EDA + cleaning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4005072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F1F5F9"/>
                </a:solidFill>
                <a:latin typeface="Aptos"/>
              </a:rPr>
              <a:t>• Encoding + scaling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4443983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F1F5F9"/>
                </a:solidFill>
                <a:latin typeface="Aptos"/>
              </a:rPr>
              <a:t>• Train/test split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882896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F1F5F9"/>
                </a:solidFill>
                <a:latin typeface="Aptos"/>
              </a:rPr>
              <a:t>• 7 regression models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5321808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F1F5F9"/>
                </a:solidFill>
                <a:latin typeface="Aptos"/>
              </a:rPr>
              <a:t>• Evaluation + feature impact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5522976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FACC15"/>
                </a:solidFill>
                <a:latin typeface="Aptos"/>
              </a:rPr>
              <a:t>Key result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5532120"/>
            <a:ext cx="23317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dirty="0">
                <a:solidFill>
                  <a:srgbClr val="F1F5F9"/>
                </a:solidFill>
                <a:latin typeface="Aptos"/>
              </a:rPr>
              <a:t>Boosting: R² = 0.829
RMSE = 884.71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1572768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1F5F9"/>
                </a:solidFill>
                <a:latin typeface="Aptos"/>
              </a:rPr>
              <a:t>Regression comparison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4920" y="2148840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tos"/>
              </a:rPr>
              <a:t>Boosting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46520" y="2148840"/>
            <a:ext cx="3449071" cy="384048"/>
          </a:xfrm>
          <a:prstGeom prst="roundRect">
            <a:avLst/>
          </a:prstGeom>
          <a:solidFill>
            <a:srgbClr val="2DD4BF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789920" y="2167128"/>
            <a:ext cx="594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2DD4BF"/>
                </a:solidFill>
                <a:latin typeface="Aptos"/>
              </a:rPr>
              <a:t>0.829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74920" y="2953512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tos"/>
              </a:rPr>
              <a:t>Random Forest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46520" y="2953512"/>
            <a:ext cx="3236884" cy="384048"/>
          </a:xfrm>
          <a:prstGeom prst="round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789920" y="2971800"/>
            <a:ext cx="594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38BDF8"/>
                </a:solidFill>
                <a:latin typeface="Aptos"/>
              </a:rPr>
              <a:t>0.778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20" y="3758184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tos"/>
              </a:rPr>
              <a:t>Bagging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46520" y="3758184"/>
            <a:ext cx="3186958" cy="384048"/>
          </a:xfrm>
          <a:prstGeom prst="roundRect">
            <a:avLst/>
          </a:prstGeom>
          <a:solidFill>
            <a:srgbClr val="A78BFA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789920" y="3776472"/>
            <a:ext cx="594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A78BFA"/>
                </a:solidFill>
                <a:latin typeface="Aptos"/>
              </a:rPr>
              <a:t>0.766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74920" y="4562856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tos"/>
              </a:rPr>
              <a:t>Linear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46520" y="4562856"/>
            <a:ext cx="3095426" cy="384048"/>
          </a:xfrm>
          <a:prstGeom prst="roundRect">
            <a:avLst/>
          </a:prstGeom>
          <a:solidFill>
            <a:srgbClr val="FB923C"/>
          </a:solidFill>
          <a:ln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789920" y="4581144"/>
            <a:ext cx="594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FB923C"/>
                </a:solidFill>
                <a:latin typeface="Aptos"/>
              </a:rPr>
              <a:t>0.744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74920" y="5532120"/>
            <a:ext cx="5760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ACC15"/>
                </a:solidFill>
                <a:latin typeface="Aptos"/>
              </a:rPr>
              <a:t>Feature impact: Unit_Price → Quantity → Discount_Pct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" y="6510528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B4BFCF"/>
                </a:solidFill>
                <a:latin typeface="Aptos"/>
              </a:rPr>
              <a:t>CALIBO AI ACADEMY  •  MACHINE LEARNING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1F5F9"/>
                </a:solidFill>
                <a:latin typeface="Aptos"/>
              </a:rPr>
              <a:t>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2412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B4BFCF"/>
                </a:solidFill>
                <a:latin typeface="Aptos"/>
              </a:rPr>
              <a:t>The algorithm is only one part of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47472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2DD4BF"/>
                </a:solidFill>
                <a:latin typeface="Aptos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B4BFCF"/>
                </a:solidFill>
                <a:latin typeface="Aptos"/>
              </a:rPr>
              <a:t>CALIBO AI ACADEMY  •  MACHINE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105613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2DD4BF"/>
                </a:solidFill>
                <a:latin typeface="Aptos"/>
              </a:rPr>
              <a:t>DATA → PREPROCESS → FEATURES → MODEL → EVALUATE → SELECT → DEPLOY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743200"/>
            <a:ext cx="3337560" cy="219456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2889504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38BDF8"/>
                </a:solidFill>
                <a:latin typeface="Aptos"/>
              </a:rPr>
              <a:t>1. Understand 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291840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F1F5F9"/>
                </a:solidFill>
                <a:latin typeface="Aptos"/>
              </a:rPr>
              <a:t>What should Y predict?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675887"/>
            <a:ext cx="2971800" cy="11704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B4BFCF"/>
                </a:solidFill>
                <a:latin typeface="Aptos"/>
              </a:rPr>
              <a:t>Regression = number
Classification = class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2743200"/>
            <a:ext cx="3337560" cy="2194560"/>
          </a:xfrm>
          <a:prstGeom prst="roundRect">
            <a:avLst/>
          </a:prstGeom>
          <a:solidFill>
            <a:srgbClr val="1E293B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17720" y="2889504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A78BFA"/>
                </a:solidFill>
                <a:latin typeface="Aptos"/>
              </a:rPr>
              <a:t>2. Prepare the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3291840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F1F5F9"/>
                </a:solidFill>
                <a:latin typeface="Aptos"/>
              </a:rPr>
              <a:t>Good input → good 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3675887"/>
            <a:ext cx="2971800" cy="11704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B4BFCF"/>
                </a:solidFill>
                <a:latin typeface="Aptos"/>
              </a:rPr>
              <a:t>Clean • encode • scale • split
Avoid data leakage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2743200"/>
            <a:ext cx="3337560" cy="2194560"/>
          </a:xfrm>
          <a:prstGeom prst="roundRect">
            <a:avLst/>
          </a:prstGeom>
          <a:solidFill>
            <a:srgbClr val="1E293B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75319" y="2889504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DD4BF"/>
                </a:solidFill>
                <a:latin typeface="Aptos"/>
              </a:rPr>
              <a:t>3. Compare &amp; select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3291840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F1F5F9"/>
                </a:solidFill>
                <a:latin typeface="Aptos"/>
              </a:rPr>
              <a:t>Evidence over guesswork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3675887"/>
            <a:ext cx="2971800" cy="11704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B4BFCF"/>
                </a:solidFill>
                <a:latin typeface="Aptos"/>
              </a:rPr>
              <a:t>Use the right metrics
Choose the model that fits the task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33472" y="5532120"/>
            <a:ext cx="5230368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F1F5F9"/>
                </a:solidFill>
                <a:latin typeface="Aptos"/>
              </a:rPr>
              <a:t>THANK YOU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6510528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B4BFCF"/>
                </a:solidFill>
                <a:latin typeface="Aptos"/>
              </a:rPr>
              <a:t>CALIBO AI ACADEMY  •  MACHINE LEARNING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1080</Words>
  <Application>Microsoft Office PowerPoint</Application>
  <PresentationFormat>Widescreen</PresentationFormat>
  <Paragraphs>200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Madhu Kunchala</cp:lastModifiedBy>
  <cp:revision>6</cp:revision>
  <dcterms:created xsi:type="dcterms:W3CDTF">2013-01-27T09:14:16Z</dcterms:created>
  <dcterms:modified xsi:type="dcterms:W3CDTF">2026-09-25T03:58:54Z</dcterms:modified>
  <cp:category/>
</cp:coreProperties>
</file>